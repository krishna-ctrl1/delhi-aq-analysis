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  <a:srgbClr val="F59E0B"/>
    <a:srgbClr val="EF4444"/>
    <a:srgbClr val="6366F1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52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3C1C-A9E2-C4CA-3A23-93FCC5C0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E858C-0AF8-0C72-E817-4934A7610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EA669-238C-9944-2C25-9311C86D7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E7684-A751-9246-64D9-BB4C07E19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65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2456" y="26306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</a:rPr>
              <a:t>ADVANCED DATA ANALYTICS  ·  IIIT SRI CITY  ·  APRIL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94A3B8"/>
                </a:solidFill>
              </a:rPr>
              <a:t>Multi-Modal Analysis of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Delhi Air Quality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2009 – 2025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4457700"/>
            <a:ext cx="196596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rgbClr val="14B8A6"/>
                </a:solidFill>
              </a:rPr>
              <a:t>Source Fingerprinting</a:t>
            </a:r>
            <a:endParaRPr lang="en-US" sz="1200" dirty="0"/>
          </a:p>
          <a:p>
            <a:pPr algn="ctr"/>
            <a:endParaRPr lang="en-IN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4457700"/>
            <a:ext cx="196596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rgbClr val="14B8A6"/>
                </a:solidFill>
              </a:rPr>
              <a:t>Causal Discovery</a:t>
            </a:r>
            <a:endParaRPr lang="en-US" sz="1200" dirty="0"/>
          </a:p>
          <a:p>
            <a:pPr algn="ctr"/>
            <a:endParaRPr lang="en-IN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651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4457700"/>
            <a:ext cx="196596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rgbClr val="14B8A6"/>
                </a:solidFill>
              </a:rPr>
              <a:t>Anomaly Detection</a:t>
            </a:r>
            <a:endParaRPr lang="en-US" sz="1200" dirty="0"/>
          </a:p>
          <a:p>
            <a:pPr algn="ctr"/>
            <a:endParaRPr lang="en-IN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0" y="4457700"/>
            <a:ext cx="196596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rgbClr val="14B8A6"/>
                </a:solidFill>
              </a:rPr>
              <a:t>PM₂.₅ Forecasting</a:t>
            </a:r>
            <a:endParaRPr lang="en-US" sz="1200" dirty="0"/>
          </a:p>
          <a:p>
            <a:pPr algn="ctr"/>
            <a:endParaRPr lang="en-IN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Krishna Gupta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456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Kumarran</a:t>
            </a:r>
            <a:r>
              <a:rPr lang="en-US" sz="1200" b="1" dirty="0">
                <a:solidFill>
                  <a:srgbClr val="FFFFFF"/>
                </a:solidFill>
              </a:rPr>
              <a:t> Mahesh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github.com/Krishna-ctrl1/delhi-aq-analysis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645920"/>
            <a:ext cx="1463040" cy="10515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0" y="1755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14.8M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Observations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16368" y="1645920"/>
            <a:ext cx="1463040" cy="10515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516368" y="1755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38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16368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1463040" cy="10515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0" y="3035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16 yrs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436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Time Span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16368" y="2926080"/>
            <a:ext cx="1463040" cy="105156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516368" y="3035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7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516368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ML Models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THE CRISIS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Delhi's Air Quality Demands Urgent 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11680" cy="1325880"/>
          </a:xfrm>
          <a:prstGeom prst="rect">
            <a:avLst/>
          </a:prstGeom>
          <a:solidFill>
            <a:srgbClr val="F4F7FC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01168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</a:rPr>
              <a:t>20×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" y="157276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Above WHO PM₂.₅ guideline (5 µg/m³)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2011680" cy="1325880"/>
          </a:xfrm>
          <a:prstGeom prst="rect">
            <a:avLst/>
          </a:prstGeom>
          <a:solidFill>
            <a:srgbClr val="F4F7FC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22960"/>
            <a:ext cx="20116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</a:rPr>
              <a:t>30M+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51176" y="157276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Residents exposed to chronic health risks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822960"/>
            <a:ext cx="2011680" cy="1325880"/>
          </a:xfrm>
          <a:prstGeom prst="rect">
            <a:avLst/>
          </a:prstGeom>
          <a:solidFill>
            <a:srgbClr val="F4F7FC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822960"/>
            <a:ext cx="201168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</a:rPr>
              <a:t>&gt;500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64024" y="157276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µg/m³ PM₂.₅ during Diwali/crop episodes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67144" y="822960"/>
            <a:ext cx="2011680" cy="1325880"/>
          </a:xfrm>
          <a:prstGeom prst="rect">
            <a:avLst/>
          </a:prstGeom>
          <a:solidFill>
            <a:srgbClr val="F4F7FC"/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822960"/>
            <a:ext cx="2011680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366F1"/>
                </a:solidFill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76872" y="157276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Stations exceed WHO benzene carcinogen limit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2286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628"/>
                </a:solidFill>
              </a:rPr>
              <a:t>PM₂.₅ Time Series — 6 Key Stations, Patparganj 2019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578608"/>
            <a:ext cx="8686800" cy="56692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06040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KEY PATTERN: </a:t>
            </a:r>
            <a:r>
              <a:rPr lang="en-US" sz="1050" dirty="0">
                <a:solidFill>
                  <a:srgbClr val="FFFFFF"/>
                </a:solidFill>
              </a:rPr>
              <a:t>Massive winter/post-monsoon pollution spikes. Clean monsoon season. Every station chronically breaches NAAQS (60 µg/m³). PM₂.₅ peaks &gt; 800 µg/m³ during Diwali + crop-burning convergence.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291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Three episodic sources converge: Diwali fireworks, agricultural residue burning (Punjab/Haryana), and boundary layer temperature inversions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6758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Superimposed on chronic vehicular, industrial, and construction dust emissions year-round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05993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NAAQS (60 µg/m³) breached at virtually every station — the guideline is aspirational, not operational</a:t>
            </a:r>
            <a:endParaRPr 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9E8F18-CCDC-1E43-C09D-01BC17ABCA23}"/>
              </a:ext>
            </a:extLst>
          </p:cNvPr>
          <p:cNvSpPr txBox="1"/>
          <p:nvPr/>
        </p:nvSpPr>
        <p:spPr>
          <a:xfrm>
            <a:off x="228600" y="4530739"/>
            <a:ext cx="8686800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Research Gap: Fragmented studies lack strict causal separation and naive forecasting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RESEARCH FRAMEWORK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Four Integrated Research Questions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777240" cy="18288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RQ1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VOC Source Fingerprinting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38988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BTEX ratios + K-Means clustering to discriminate traffic vs. industrial vs. mixed monitoring stations — with seasonal variation analysis.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777240" cy="182880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173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</a:rPr>
              <a:t>RQ2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Causal Structure Discovery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38988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Directed causal graph linking meteorology &amp; co-pollutants to PM₂.₅ via PCMCI+ (confound-controlled) — first application to Delhi's CAAQM network.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420624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16352"/>
            <a:ext cx="777240" cy="18288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107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RQ3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Anomaly &amp; Regime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Isolation Forest + PELT at 3 scales to identify extreme pollution episodes and seasonal regime boundaries for GRAP activation.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816352"/>
            <a:ext cx="4206240" cy="1828800"/>
          </a:xfrm>
          <a:prstGeom prst="rect">
            <a:avLst/>
          </a:prstGeom>
          <a:solidFill>
            <a:srgbClr val="16203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16352"/>
            <a:ext cx="777240" cy="18288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4107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RQ4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PM₂.₅ Forecasting Benchmark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7-model comparison — Persistence, SARIMA, XGBoost, LightGBM, RF, LSTM, Ensemble — at 1-hour horizon with honest persistence baseline.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6-Stage Pipeline: Harmonisation → EDA → VOC Fingerprinting → Causal Discovery → Anomaly Detection →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DATA &amp; EXPLORATORY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14.8M Observations — Wind Patterns &amp; PM₂.₅ Calendar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011680" cy="731520"/>
          </a:xfrm>
          <a:prstGeom prst="rect">
            <a:avLst/>
          </a:prstGeom>
          <a:solidFill>
            <a:srgbClr val="F4F7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14.8M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Observations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(15-min)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41448" y="749808"/>
            <a:ext cx="2011680" cy="731520"/>
          </a:xfrm>
          <a:prstGeom prst="rect">
            <a:avLst/>
          </a:prstGeom>
          <a:solidFill>
            <a:srgbClr val="F4F7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38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41448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CAAQM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Stations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54296" y="749808"/>
            <a:ext cx="2011680" cy="731520"/>
          </a:xfrm>
          <a:prstGeom prst="rect">
            <a:avLst/>
          </a:prstGeom>
          <a:solidFill>
            <a:srgbClr val="F4F7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25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Parameters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Pollutants+Met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67144" y="749808"/>
            <a:ext cx="2011680" cy="731520"/>
          </a:xfrm>
          <a:prstGeom prst="rect">
            <a:avLst/>
          </a:prstGeom>
          <a:solidFill>
            <a:srgbClr val="F4F7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2009–25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67144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Full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Time Span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860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628"/>
                </a:solidFill>
              </a:rPr>
              <a:t>Wind Rose by Season — Patparganj 2019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47088"/>
            <a:ext cx="4343400" cy="3017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754880" y="15727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628"/>
                </a:solidFill>
              </a:rPr>
              <a:t>Daily Mean PM₂.₅ — Patparganj 2019 (Calendar Heatmap)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47088"/>
            <a:ext cx="4160520" cy="10515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54880" y="2971800"/>
            <a:ext cx="4160520" cy="1901952"/>
          </a:xfrm>
          <a:prstGeom prst="rect">
            <a:avLst/>
          </a:prstGeom>
          <a:solidFill>
            <a:srgbClr val="F4F7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92040" y="30358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628"/>
                </a:solidFill>
              </a:rPr>
              <a:t>Key Meteorological &amp; Seasonal Findings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89204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Winter: NW winds dominate — transport from Punjab/Haryana stubble burning regions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892040" y="3621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Monsoon: SW winds, high speeds (peak 30.8%) — effective pollutant scavenging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89204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Nov–Dec: Darkest cells in heatmap — PM₂.₅ peaks 400+ µg/m³ (Diwali + crops)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892040" y="4242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Summer–Monsoon transition: Calendar shows clean period (pale yellow cells Jun–Sep)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892040" y="4553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Post-Monsoon: NW return + inversion onset = rapid pollution buildup from Oct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RQ1 RESULT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0" y="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bg1"/>
                </a:solidFill>
              </a:rPr>
              <a:t>VOC Source Fingerprinting — 3-Cluster Station Classification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1600200"/>
          </a:xfrm>
          <a:prstGeom prst="rect">
            <a:avLst/>
          </a:prstGeom>
          <a:solidFill>
            <a:srgbClr val="16203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</a:rPr>
              <a:t>T/B &gt; 2.0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Traffic-Dominated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Mundka, Sonia Vihar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High toluene from vehicular exhaust — major arterial roads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71116"/>
            <a:ext cx="2560320" cy="251460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dirty="0">
                <a:solidFill>
                  <a:srgbClr val="14B8A6"/>
                </a:solidFill>
              </a:rPr>
              <a:t>T/B peaks in winter (less photodegradation)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777240"/>
            <a:ext cx="2743200" cy="1627632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777240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</a:rPr>
              <a:t>1.0 – 2.0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Mixed / Low-VOC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14447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Most central stations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64408" y="16824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Composite traffic + residential + construction sources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4408" y="2066544"/>
            <a:ext cx="2560320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dirty="0">
                <a:solidFill>
                  <a:srgbClr val="14B8A6"/>
                </a:solidFill>
              </a:rPr>
              <a:t>Stable ratio year-round</a:t>
            </a:r>
            <a:endParaRPr lang="en-US" sz="1000" dirty="0"/>
          </a:p>
          <a:p>
            <a:pPr algn="ctr"/>
            <a:endParaRPr lang="en-IN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450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17336" y="777240"/>
            <a:ext cx="2743200" cy="1627632"/>
          </a:xfrm>
          <a:prstGeom prst="rect">
            <a:avLst/>
          </a:prstGeom>
          <a:solidFill>
            <a:srgbClr val="162032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17336" y="777240"/>
            <a:ext cx="274320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8"/>
                </a:solidFill>
              </a:rPr>
              <a:t>T/B &lt; 1.0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08776" y="1216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</a:rPr>
              <a:t>Industrial / Solvent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8776" y="149047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Patparganj, NSIT Dwarka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08776" y="1645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Industrial solvents, painting, manufacturing emissions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08776" y="2071116"/>
            <a:ext cx="2560320" cy="251460"/>
          </a:xfrm>
          <a:prstGeom prst="rect">
            <a:avLst/>
          </a:prstGeom>
          <a:solidFill>
            <a:srgbClr val="6366F1">
              <a:alpha val="12000"/>
            </a:srgbClr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dirty="0">
                <a:solidFill>
                  <a:srgbClr val="14B8A6"/>
                </a:solidFill>
              </a:rPr>
              <a:t>Higher summer toluene oxidation</a:t>
            </a:r>
            <a:endParaRPr lang="en-US" sz="1000" dirty="0"/>
          </a:p>
          <a:p>
            <a:pPr algn="ctr"/>
            <a:endParaRPr lang="en-IN" sz="1000" dirty="0"/>
          </a:p>
        </p:txBody>
      </p:sp>
      <p:sp>
        <p:nvSpPr>
          <p:cNvPr id="28" name="Text 26"/>
          <p:cNvSpPr/>
          <p:nvPr/>
        </p:nvSpPr>
        <p:spPr>
          <a:xfrm>
            <a:off x="6208776" y="24505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491740"/>
            <a:ext cx="8686800" cy="39319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320040" y="24734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⚠  BENZENE CARCINOGEN RISK: </a:t>
            </a:r>
            <a:r>
              <a:rPr lang="en-US" sz="950" dirty="0">
                <a:solidFill>
                  <a:srgbClr val="FFFFFF"/>
                </a:solidFill>
              </a:rPr>
              <a:t>Nearly ALL stations exceed WHO (1 µg/m³) and EU (5 µg/m³) annual mean benzene limits — a carcinogenic health hazard ABSENT from India's NAQI framework.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" y="354787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7C961906-8548-4BA7-838E-C0E4313E6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39795"/>
            <a:ext cx="4434840" cy="2138641"/>
          </a:xfrm>
          <a:prstGeom prst="rect">
            <a:avLst/>
          </a:prstGeom>
        </p:spPr>
      </p:pic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1139BC1E-7FC9-7774-DDA1-0F5CE10C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566" y="2948940"/>
            <a:ext cx="4206240" cy="2129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RQ2 RESULT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0" y="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Causal Structure Discovery — PCMCI+ Directed Causal Graph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749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628"/>
                </a:solidFill>
              </a:rPr>
              <a:t>PCMCI+ Confirmed Causal Links (ParCorr, τmax=24h, α=0.05)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1024128"/>
            <a:ext cx="4297680" cy="502920"/>
          </a:xfrm>
          <a:prstGeom prst="rect">
            <a:avLst/>
          </a:prstGeom>
          <a:solidFill>
            <a:srgbClr val="F4F7F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0424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PM₂.₅ ← CO  (lag 1–3h)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1280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#1 causal driver — combustion co-emission signature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17720" y="1591056"/>
            <a:ext cx="4297680" cy="502920"/>
          </a:xfrm>
          <a:prstGeom prst="rect">
            <a:avLst/>
          </a:prstGeom>
          <a:solidFill>
            <a:srgbClr val="F4F7F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609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PM₂.₅ ← SR  (lag 1h)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54880" y="18470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Immediate photolytic effect on secondary aerosol dynamics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17720" y="2157984"/>
            <a:ext cx="4297680" cy="502920"/>
          </a:xfrm>
          <a:prstGeom prst="rect">
            <a:avLst/>
          </a:prstGeom>
          <a:solidFill>
            <a:srgbClr val="F4F7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176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PM₂.₅ ← PM₂.₅  (lag 1–24h)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54880" y="2414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Strong autoregressive memory — system inertia &gt; 0.95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17720" y="2724912"/>
            <a:ext cx="4297680" cy="502920"/>
          </a:xfrm>
          <a:prstGeom prst="rect">
            <a:avLst/>
          </a:prstGeom>
          <a:solidFill>
            <a:srgbClr val="F4F7FC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7432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</a:rPr>
              <a:t>O₃ ↔ SR ↔ NO₂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54880" y="29809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Photochemical coupling correctly recovered as bidirectional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17720" y="3291840"/>
            <a:ext cx="4297680" cy="502920"/>
          </a:xfrm>
          <a:prstGeom prst="rect">
            <a:avLst/>
          </a:prstGeom>
          <a:solidFill>
            <a:srgbClr val="F4F7F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3310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BP → PM₂.₅  ELIMINATED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54880" y="35478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Granger link was spurious — confounding by temperature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28600" y="3913632"/>
            <a:ext cx="86868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9319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SEASONAL CAUSAL SHIFT (causal structure is NOT temporally invariant):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4142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Winter → WS dominates (low boundary layer)  ·  Summer → SR (photolysis)  ·  Monsoon → RH (wet scavenging)  ·  Post-Monsoon → AT + WS (inversion onset)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" y="4526280"/>
            <a:ext cx="8686800" cy="47548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455371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CRITICAL INSIGHT: </a:t>
            </a:r>
            <a:r>
              <a:rPr lang="en-US" sz="950" dirty="0">
                <a:solidFill>
                  <a:srgbClr val="1E293B"/>
                </a:solidFill>
              </a:rPr>
              <a:t>PCMCI+ eliminates confounded Granger links (e.g. BP→PM₂.₅) by conditioning on all other variables. Pairwise Granger alone yields false positives — never use it without conditional independence testing.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2E24501E-383E-8451-7ABD-41B8B1202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731520"/>
            <a:ext cx="4325113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RQ3 RESULT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0" y="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Anomaly Detection &amp; Regime Analysis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Multi-Scale PELT Change-Point Detection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393397"/>
              </p:ext>
            </p:extLst>
          </p:nvPr>
        </p:nvGraphicFramePr>
        <p:xfrm>
          <a:off x="228599" y="1024128"/>
          <a:ext cx="3098409" cy="1234440"/>
        </p:xfrm>
        <a:graphic>
          <a:graphicData uri="http://schemas.openxmlformats.org/drawingml/2006/table">
            <a:tbl>
              <a:tblPr/>
              <a:tblGrid>
                <a:gridCol w="64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628"/>
                          </a:solidFill>
                        </a:rPr>
                        <a:t>Scale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628"/>
                          </a:solidFill>
                        </a:rPr>
                        <a:t>Penalty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628"/>
                          </a:solidFill>
                        </a:rPr>
                        <a:t>Shifts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628"/>
                          </a:solidFill>
                        </a:rPr>
                        <a:t>Interpretation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Fine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~57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Short-duration episodes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Macro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6–8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Major seasonal transitions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Seasonal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3000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3–4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Annual regime boundaries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2340864"/>
            <a:ext cx="3098408" cy="795528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228599" y="2331720"/>
            <a:ext cx="30984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</a:rPr>
              <a:t>438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28600" y="2670048"/>
            <a:ext cx="30984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anomalous hours flagged by Isolation Forest (5.0% of 2019)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54880" y="1362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54880" y="1591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54880" y="19293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54880" y="21579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54880" y="27249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4880" y="3063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54880" y="32918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28600" y="3209544"/>
            <a:ext cx="8686800" cy="502920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218688"/>
            <a:ext cx="8412480" cy="56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KEY FINDING: Anomalous hours concentrate in Oct–Nov (Diwali + crop-burning convergence). PELT October change-point coincides PRECISELY with Diwali/stubble-burning onset — providing actionable GRAP activation dates.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28600" y="3913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2B850AB8-AFDA-2953-B27E-EFC43DD0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24128"/>
            <a:ext cx="5559552" cy="2112264"/>
          </a:xfrm>
          <a:prstGeom prst="rect">
            <a:avLst/>
          </a:prstGeom>
        </p:spPr>
      </p:pic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9079F146-0504-DA2C-5BC3-B84AF783E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785614"/>
            <a:ext cx="8741664" cy="1303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RQ4 RESULT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60320" y="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</a:rPr>
              <a:t>PM₂.₅ Forecasting — The Persistence Ceiling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628"/>
                </a:solidFill>
              </a:rPr>
              <a:t>Test Set: Nov–Dec 2019 (Peak Pollution Period)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33272"/>
          <a:ext cx="5029200" cy="18897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RMSE (µg/m³)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Skill Score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Persistence ★ BEST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30.29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0.948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0.836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44.44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0.760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LightGBM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47.82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0.742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XGBoost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52.26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0.718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LSTM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54.36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0.832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0.701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Ensemble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56.00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0.814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0.688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SARIMA ✗ FAIL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233.69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−2.08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</a:rPr>
                        <a:t>−0.262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914400"/>
            <a:ext cx="1645920" cy="1097280"/>
          </a:xfrm>
          <a:prstGeom prst="rect">
            <a:avLst/>
          </a:prstGeom>
          <a:solidFill>
            <a:srgbClr val="F4F7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0680" y="10241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30.3</a:t>
            </a:r>
            <a:endParaRPr lang="en-US" sz="2800" dirty="0"/>
          </a:p>
        </p:txBody>
      </p:sp>
      <p:sp>
        <p:nvSpPr>
          <p:cNvPr id="6" name="Text 6"/>
          <p:cNvSpPr/>
          <p:nvPr/>
        </p:nvSpPr>
        <p:spPr>
          <a:xfrm>
            <a:off x="5440680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µg/m³ RMSE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4068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Persistence Best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269480" y="914400"/>
            <a:ext cx="1645920" cy="1097280"/>
          </a:xfrm>
          <a:prstGeom prst="rect">
            <a:avLst/>
          </a:prstGeom>
          <a:solidFill>
            <a:srgbClr val="F4F7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10241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0.948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269480" y="14996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R²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26948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Persistence R²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40680" y="2194560"/>
            <a:ext cx="1645920" cy="1097280"/>
          </a:xfrm>
          <a:prstGeom prst="rect">
            <a:avLst/>
          </a:prstGeom>
          <a:solidFill>
            <a:srgbClr val="F4F7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23042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44.4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440680" y="2779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µg/m³ RMSE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4068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Random Forest 2nd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269480" y="2194560"/>
            <a:ext cx="1645920" cy="1097280"/>
          </a:xfrm>
          <a:prstGeom prst="rect">
            <a:avLst/>
          </a:prstGeom>
          <a:solidFill>
            <a:srgbClr val="F4F7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23042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−2.08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269480" y="2779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R²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26948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SARIMA catastrophic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3474720"/>
            <a:ext cx="8412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WHY PERSISTENCE WINS: </a:t>
            </a:r>
            <a:r>
              <a:rPr lang="en-US" sz="950" dirty="0">
                <a:solidFill>
                  <a:srgbClr val="FFFFFF"/>
                </a:solidFill>
              </a:rPr>
              <a:t>Lag-1 autocorrelation of PM₂.₅ exceeds 0.95 — the series barely moves hour-to-hour. Any trained model battles the raw inertia of the signal.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8600" y="3767328"/>
            <a:ext cx="420624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SARIMA FAILURE: </a:t>
            </a:r>
            <a:r>
              <a:rPr lang="en-US" sz="900" dirty="0">
                <a:solidFill>
                  <a:srgbClr val="1E293B"/>
                </a:solidFill>
              </a:rPr>
              <a:t>Negative R² (= −2.08) — captures diurnal cycle but cannot model non-stationary Diwali/crop-burning extremes.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3767328"/>
            <a:ext cx="434340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INVESTMENT PRIORITY: </a:t>
            </a:r>
            <a:r>
              <a:rPr lang="en-US" sz="900" dirty="0">
                <a:solidFill>
                  <a:srgbClr val="1E293B"/>
                </a:solidFill>
              </a:rPr>
              <a:t>1h horizon is dominated by autocorrelation. Operational value is at 6–24h where ML models are expected to outperform persistence.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28600" y="43708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Note: All models trained on Jan 8–Sep 30, validated Oct 2019, tested Nov–Dec 2019. Strict chronological split — no data leakage.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KEY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0" y="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Prediction ≠ Causation — The SHAP vs PCMCI+ Divergence Matrix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 (Predictive Importance) vs PCMCI+ (Causal Drivers)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017521"/>
              </p:ext>
            </p:extLst>
          </p:nvPr>
        </p:nvGraphicFramePr>
        <p:xfrm>
          <a:off x="228600" y="1051560"/>
          <a:ext cx="4195689" cy="1615440"/>
        </p:xfrm>
        <a:graphic>
          <a:graphicData uri="http://schemas.openxmlformats.org/drawingml/2006/table">
            <a:tbl>
              <a:tblPr/>
              <a:tblGrid>
                <a:gridCol w="372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SHAP — Best for Prediction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PCMCI+ — Causal Drivers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PM₂.₅ lag-1 (autoregressive)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  (combustion co-emission)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PM₂.₅ lag-2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SR  (photolytic dispersion)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PM₂.₅ lag-4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PM₂.₅ lag-1 (autoregressive)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PM₂.₅ 24h rolling mean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NO₂ (vehicular proxy)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AT  (boundary layer)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80760" y="105156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7"/>
          <p:cNvSpPr/>
          <p:nvPr/>
        </p:nvSpPr>
        <p:spPr>
          <a:xfrm>
            <a:off x="6172200" y="1316736"/>
            <a:ext cx="2651760" cy="30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80760" y="2441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1031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28600" y="2732531"/>
            <a:ext cx="4202724" cy="938315"/>
          </a:xfrm>
          <a:prstGeom prst="rect">
            <a:avLst/>
          </a:prstGeom>
          <a:solidFill>
            <a:srgbClr val="162032"/>
          </a:solidFill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r>
              <a:rPr lang="en-US" sz="1000" b="1" dirty="0">
                <a:solidFill>
                  <a:srgbClr val="6366F1"/>
                </a:solidFill>
              </a:rPr>
              <a:t>POLICY IMPLICATION: </a:t>
            </a:r>
            <a:r>
              <a:rPr lang="en-US" sz="1000" dirty="0">
                <a:solidFill>
                  <a:srgbClr val="FFFFFF"/>
                </a:solidFill>
              </a:rPr>
              <a:t>Prior Delhi forecasting studies reported ML superiority WITHOUT a persistence baseline — likely making INFLATED claims. This study is first to benchmark all 7 models honestly, revealing the autoregressive ceiling at 1h horizons. </a:t>
            </a:r>
            <a:r>
              <a:rPr lang="en-US" sz="1000" b="1" dirty="0">
                <a:solidFill>
                  <a:srgbClr val="14B8A6"/>
                </a:solidFill>
              </a:rPr>
              <a:t>Invest in 6–24h multi-step forecasting where ML genuinely outperforms.</a:t>
            </a:r>
            <a:endParaRPr lang="en-US" sz="1000" dirty="0"/>
          </a:p>
          <a:p>
            <a:endParaRPr lang="en-IN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3236976"/>
            <a:ext cx="371809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28601" y="3580929"/>
            <a:ext cx="3907302" cy="938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SHAP XGBoost feature importance confirms: PM₂.₅_lag1 contributes more predictive power than ALL other features combined. CO appears only at rank 5 in SHAP despite being the #1 causal driver in PCMCI+.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28600" y="4326638"/>
            <a:ext cx="383696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B8A6"/>
                </a:solidFill>
              </a:rPr>
              <a:t>This divergence is not a contradiction — it is informative. Prediction leverages inertia; causation identifies intervention points.</a:t>
            </a:r>
            <a:endParaRPr lang="en-US" sz="95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05F6C396-5D00-C1CA-13C5-F266DC0F9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710" y="1033272"/>
            <a:ext cx="4195690" cy="3707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KEY CONTRIBUTIONS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5 Novel Contributions to Delhi AQ Research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First PCMCI+ on Delhi CAAQM Network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2435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Winter → WS-driven dispersion measures. Summer → photolytic (SR-mediated controls). Monsoon → wet scavenging leverage. Post-Monsoon → prevent boundary layer inversions.</a:t>
            </a:r>
          </a:p>
        </p:txBody>
      </p:sp>
      <p:sp>
        <p:nvSpPr>
          <p:cNvPr id="10" name="Shape 8"/>
          <p:cNvSpPr/>
          <p:nvPr/>
        </p:nvSpPr>
        <p:spPr>
          <a:xfrm>
            <a:off x="4690872" y="8046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804672"/>
            <a:ext cx="457200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39512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Persistence Ceiling Exposed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39512" y="12435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Honest 1h benchmarking shows naive persistence (RMSE=30.3) beats ALL trained ML/DL models. Prior studies made inflated claims by omitting this baseline.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1762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176272"/>
            <a:ext cx="457200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22494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Prediction–Causation Divergence Matrix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2615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First explicit SHAP vs PCMCI+ comparison — separating predictive importance from causal drivers for policymakers. Autoregressive lags ≠ intervention targets.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90872" y="21762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176272"/>
            <a:ext cx="45720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39512" y="22494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Multi-Scale PELT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9512" y="2615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3 penalty scales simultaneously resolve episodic (p=80), transitional (p=500) &amp; seasonal (p=3000) pollution regime structure with actionable GRAP trigger dates.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0" y="35478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0" y="3547872"/>
            <a:ext cx="457200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834640" y="36210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Benzene Carcinogen Risk Mapping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34640" y="39867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Nearly ALL stations exceed WHO (1 µg/m³) and EU (5 µg/m³) benzene limits — a public health risk substantially absent from India's NAQI framework.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79A0B-728E-5F7D-BECD-818C47953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4E013E-3CA9-0269-BFC2-D07EAB1A3A8C}"/>
              </a:ext>
            </a:extLst>
          </p:cNvPr>
          <p:cNvSpPr/>
          <p:nvPr/>
        </p:nvSpPr>
        <p:spPr>
          <a:xfrm>
            <a:off x="0" y="-18288"/>
            <a:ext cx="914400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65EBE2-5A41-C6EC-AC34-9995BF32A197}"/>
              </a:ext>
            </a:extLst>
          </p:cNvPr>
          <p:cNvSpPr/>
          <p:nvPr/>
        </p:nvSpPr>
        <p:spPr>
          <a:xfrm>
            <a:off x="27432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1"/>
                </a:solidFill>
              </a:rPr>
              <a:t>POLICY RECOMMENDATIONS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305548-DB27-D7AD-D5BE-B420876171A6}"/>
              </a:ext>
            </a:extLst>
          </p:cNvPr>
          <p:cNvSpPr/>
          <p:nvPr/>
        </p:nvSpPr>
        <p:spPr>
          <a:xfrm>
            <a:off x="4114800" y="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Actionable Insights for Delhi AQ Governance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5B792B-CE45-4BB5-AEE4-C94AD3C11B84}"/>
              </a:ext>
            </a:extLst>
          </p:cNvPr>
          <p:cNvSpPr/>
          <p:nvPr/>
        </p:nvSpPr>
        <p:spPr>
          <a:xfrm>
            <a:off x="228600" y="8046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C02CBE-343E-CE47-E9FD-F2C7FF08E7D8}"/>
              </a:ext>
            </a:extLst>
          </p:cNvPr>
          <p:cNvSpPr/>
          <p:nvPr/>
        </p:nvSpPr>
        <p:spPr>
          <a:xfrm>
            <a:off x="228600" y="804672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194A6A-3DA9-4D38-33EC-1C846B7E22F7}"/>
              </a:ext>
            </a:extLst>
          </p:cNvPr>
          <p:cNvSpPr/>
          <p:nvPr/>
        </p:nvSpPr>
        <p:spPr>
          <a:xfrm>
            <a:off x="22860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81DCA0-ABE9-A19E-EAFE-B4FF3CCB9F5E}"/>
              </a:ext>
            </a:extLst>
          </p:cNvPr>
          <p:cNvSpPr/>
          <p:nvPr/>
        </p:nvSpPr>
        <p:spPr>
          <a:xfrm>
            <a:off x="777240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D9488"/>
                </a:solidFill>
              </a:rPr>
              <a:t>Season-Stratified Controls</a:t>
            </a:r>
            <a:endParaRPr lang="en-US" sz="1050" dirty="0">
              <a:solidFill>
                <a:srgbClr val="0D9488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2646E5-C919-57C2-887A-1CA49475EEC3}"/>
              </a:ext>
            </a:extLst>
          </p:cNvPr>
          <p:cNvSpPr/>
          <p:nvPr/>
        </p:nvSpPr>
        <p:spPr>
          <a:xfrm>
            <a:off x="777240" y="12435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Confound-controlled directed causal graph with seasonal decomposition — first application to all 38 stations. Eliminates false-positive Granger links (e.g. BP→PM₂.₅).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6A7A49E-CB74-5C75-1B0E-3347A5BAF217}"/>
              </a:ext>
            </a:extLst>
          </p:cNvPr>
          <p:cNvSpPr/>
          <p:nvPr/>
        </p:nvSpPr>
        <p:spPr>
          <a:xfrm>
            <a:off x="4690872" y="8046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440FA25-D307-21CC-01F9-DFB73A84BB82}"/>
              </a:ext>
            </a:extLst>
          </p:cNvPr>
          <p:cNvSpPr/>
          <p:nvPr/>
        </p:nvSpPr>
        <p:spPr>
          <a:xfrm>
            <a:off x="4690872" y="804672"/>
            <a:ext cx="457200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360A70F-9E10-04ED-8911-5542635247FA}"/>
              </a:ext>
            </a:extLst>
          </p:cNvPr>
          <p:cNvSpPr/>
          <p:nvPr/>
        </p:nvSpPr>
        <p:spPr>
          <a:xfrm>
            <a:off x="469087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B5FD70B-649F-C72A-BB28-C963E9DEEF52}"/>
              </a:ext>
            </a:extLst>
          </p:cNvPr>
          <p:cNvSpPr/>
          <p:nvPr/>
        </p:nvSpPr>
        <p:spPr>
          <a:xfrm>
            <a:off x="5239512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2C55E"/>
                </a:solidFill>
              </a:rPr>
              <a:t>CO as #1 Intervention</a:t>
            </a:r>
            <a:endParaRPr lang="en-US" sz="1050" dirty="0">
              <a:solidFill>
                <a:srgbClr val="22C55E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DD641D2-1E68-B14D-AD8E-9B74CC5D188D}"/>
              </a:ext>
            </a:extLst>
          </p:cNvPr>
          <p:cNvSpPr/>
          <p:nvPr/>
        </p:nvSpPr>
        <p:spPr>
          <a:xfrm>
            <a:off x="5239512" y="12435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PCMCI+ identifies CO as strongest causal driver (F=427.5). Tighter vehicular emission norms + open burning bans are highest-ROI. Direct path to PM₂.₅ reduction.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1EC5D32-06EB-86DA-004F-5AEC64C990B3}"/>
              </a:ext>
            </a:extLst>
          </p:cNvPr>
          <p:cNvSpPr/>
          <p:nvPr/>
        </p:nvSpPr>
        <p:spPr>
          <a:xfrm>
            <a:off x="228600" y="21762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BA90560-F646-536D-8DAC-2EEC29DAFFD4}"/>
              </a:ext>
            </a:extLst>
          </p:cNvPr>
          <p:cNvSpPr/>
          <p:nvPr/>
        </p:nvSpPr>
        <p:spPr>
          <a:xfrm>
            <a:off x="228600" y="2176272"/>
            <a:ext cx="457200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255529F-2F76-3798-9489-BFC074660018}"/>
              </a:ext>
            </a:extLst>
          </p:cNvPr>
          <p:cNvSpPr/>
          <p:nvPr/>
        </p:nvSpPr>
        <p:spPr>
          <a:xfrm>
            <a:off x="2286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4583CA-FDCC-DD06-4DC0-E03826939205}"/>
              </a:ext>
            </a:extLst>
          </p:cNvPr>
          <p:cNvSpPr/>
          <p:nvPr/>
        </p:nvSpPr>
        <p:spPr>
          <a:xfrm>
            <a:off x="777240" y="22494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6366F1"/>
                </a:solidFill>
              </a:rPr>
              <a:t>Benzene in NAQI Framework</a:t>
            </a:r>
            <a:endParaRPr lang="en-US" sz="1050" dirty="0">
              <a:solidFill>
                <a:srgbClr val="6366F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9416A4D-16A9-1653-6B70-B0F3DCC8A079}"/>
              </a:ext>
            </a:extLst>
          </p:cNvPr>
          <p:cNvSpPr/>
          <p:nvPr/>
        </p:nvSpPr>
        <p:spPr>
          <a:xfrm>
            <a:off x="777240" y="2615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All stations exceed WHO/EU carcinogen limits. India's NAQI must urgently include benzene as an index pollutant. Current framework omits a major carcinogenic risk.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F30A2D7-7819-3D51-ED39-E13D7AEB5010}"/>
              </a:ext>
            </a:extLst>
          </p:cNvPr>
          <p:cNvSpPr/>
          <p:nvPr/>
        </p:nvSpPr>
        <p:spPr>
          <a:xfrm>
            <a:off x="4690872" y="21762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529322E-0694-91A2-4534-BED77AAF5BE0}"/>
              </a:ext>
            </a:extLst>
          </p:cNvPr>
          <p:cNvSpPr/>
          <p:nvPr/>
        </p:nvSpPr>
        <p:spPr>
          <a:xfrm>
            <a:off x="4690872" y="2176272"/>
            <a:ext cx="45720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D92AD38-C91B-32EF-C308-6C97C66B6FB4}"/>
              </a:ext>
            </a:extLst>
          </p:cNvPr>
          <p:cNvSpPr/>
          <p:nvPr/>
        </p:nvSpPr>
        <p:spPr>
          <a:xfrm>
            <a:off x="469087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90F49EA-2C10-B4D4-2B4C-B347FE697B11}"/>
              </a:ext>
            </a:extLst>
          </p:cNvPr>
          <p:cNvSpPr/>
          <p:nvPr/>
        </p:nvSpPr>
        <p:spPr>
          <a:xfrm>
            <a:off x="5239512" y="22494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59E0B"/>
                </a:solidFill>
              </a:rPr>
              <a:t>Invest in 6–24h Forecasting</a:t>
            </a:r>
            <a:endParaRPr lang="en-US" sz="1050" dirty="0">
              <a:solidFill>
                <a:srgbClr val="F59E0B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235E263-9433-EC63-3CB9-2E977AD5A045}"/>
              </a:ext>
            </a:extLst>
          </p:cNvPr>
          <p:cNvSpPr/>
          <p:nvPr/>
        </p:nvSpPr>
        <p:spPr>
          <a:xfrm>
            <a:off x="5239512" y="2615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At 1h, persistence is unbeatable (autocorrelation &gt; 0.95). Operational early-warning value only </a:t>
            </a:r>
            <a:r>
              <a:rPr lang="en-US" sz="850" dirty="0" err="1">
                <a:solidFill>
                  <a:srgbClr val="475569"/>
                </a:solidFill>
              </a:rPr>
              <a:t>materialises</a:t>
            </a:r>
            <a:r>
              <a:rPr lang="en-US" sz="850" dirty="0">
                <a:solidFill>
                  <a:srgbClr val="475569"/>
                </a:solidFill>
              </a:rPr>
              <a:t> at 6–24h horizons — fund multi-step model development.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3BAC92A-CE9F-E360-BF44-26E760DF1C84}"/>
              </a:ext>
            </a:extLst>
          </p:cNvPr>
          <p:cNvSpPr/>
          <p:nvPr/>
        </p:nvSpPr>
        <p:spPr>
          <a:xfrm>
            <a:off x="2286000" y="3547872"/>
            <a:ext cx="4206240" cy="1207008"/>
          </a:xfrm>
          <a:prstGeom prst="rect">
            <a:avLst/>
          </a:prstGeom>
          <a:solidFill>
            <a:srgbClr val="F4F7FC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040C773-A021-E307-9EFC-AC52CFA5698D}"/>
              </a:ext>
            </a:extLst>
          </p:cNvPr>
          <p:cNvSpPr/>
          <p:nvPr/>
        </p:nvSpPr>
        <p:spPr>
          <a:xfrm>
            <a:off x="2286000" y="3547872"/>
            <a:ext cx="457200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4D38819-72FA-26B3-C8B9-DBF74F1126A5}"/>
              </a:ext>
            </a:extLst>
          </p:cNvPr>
          <p:cNvSpPr/>
          <p:nvPr/>
        </p:nvSpPr>
        <p:spPr>
          <a:xfrm>
            <a:off x="22860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DF254C0-E067-6DB1-48D5-ED8BE7A187DF}"/>
              </a:ext>
            </a:extLst>
          </p:cNvPr>
          <p:cNvSpPr/>
          <p:nvPr/>
        </p:nvSpPr>
        <p:spPr>
          <a:xfrm>
            <a:off x="2834640" y="36210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EF4444"/>
                </a:solidFill>
              </a:rPr>
              <a:t>GRAP Triggers from Episode Catalogue</a:t>
            </a:r>
            <a:endParaRPr lang="en-US" sz="1050" dirty="0">
              <a:solidFill>
                <a:srgbClr val="EF4444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8DFA11B-4595-7545-ED0E-35E43F45989D}"/>
              </a:ext>
            </a:extLst>
          </p:cNvPr>
          <p:cNvSpPr/>
          <p:nvPr/>
        </p:nvSpPr>
        <p:spPr>
          <a:xfrm>
            <a:off x="2834640" y="39867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PELT change-points + Isolation Forest episode dates provide precise, data-driven Graded Response Action Plan activation thresholds by season and episode type.</a:t>
            </a:r>
          </a:p>
        </p:txBody>
      </p:sp>
    </p:spTree>
    <p:extLst>
      <p:ext uri="{BB962C8B-B14F-4D97-AF65-F5344CB8AC3E}">
        <p14:creationId xmlns:p14="http://schemas.microsoft.com/office/powerpoint/2010/main" val="3904823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Multi-Modal Characterisation, Causal Attribution,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and Predictive Modelling of Ambient Air Quality in Delhi, India (2009–2025)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Krishna Gupta  ·  S20230010124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Kumarran Mahesh  ·  S20230030387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IIIT Sri City — Advanced Data Analytics,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github.com/Krishna-ctrl1/delhi-aq-analysis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783080" cy="8046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14.8M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Observations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3794760"/>
            <a:ext cx="1783080" cy="8046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PCMCI+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Causal Discovery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794760"/>
            <a:ext cx="1783080" cy="8046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7 Models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Benchmarked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3794760"/>
            <a:ext cx="1783080" cy="8046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CO + SR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4206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Causal Drivers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1730</Words>
  <Application>Microsoft Office PowerPoint</Application>
  <PresentationFormat>On-screen Show (16:9)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Multi-Modal Analysis of Delhi Air Quality</dc:title>
  <dc:subject>PptxGenJS Presentation</dc:subject>
  <dc:creator>PptxGenJS</dc:creator>
  <cp:lastModifiedBy>Krishna Gupta</cp:lastModifiedBy>
  <cp:revision>3</cp:revision>
  <dcterms:created xsi:type="dcterms:W3CDTF">2026-04-19T18:12:38Z</dcterms:created>
  <dcterms:modified xsi:type="dcterms:W3CDTF">2026-04-19T19:57:47Z</dcterms:modified>
</cp:coreProperties>
</file>